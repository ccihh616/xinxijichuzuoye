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9.png"/><Relationship Id="rId7" Type="http://schemas.openxmlformats.org/officeDocument/2006/relationships/image" Target="../media/image32.png"/><Relationship Id="rId8" Type="http://schemas.openxmlformats.org/officeDocument/2006/relationships/image" Target="../media/image3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28.png"/><Relationship Id="rId6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3.png"/><Relationship Id="rId4" Type="http://schemas.openxmlformats.org/officeDocument/2006/relationships/image" Target="../media/image36.png"/><Relationship Id="rId5" Type="http://schemas.openxmlformats.org/officeDocument/2006/relationships/image" Target="../media/image4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7.png"/><Relationship Id="rId4" Type="http://schemas.openxmlformats.org/officeDocument/2006/relationships/image" Target="../media/image31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42.png"/><Relationship Id="rId8" Type="http://schemas.openxmlformats.org/officeDocument/2006/relationships/image" Target="../media/image4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26.png"/><Relationship Id="rId7" Type="http://schemas.openxmlformats.org/officeDocument/2006/relationships/image" Target="../media/image33.png"/><Relationship Id="rId8" Type="http://schemas.openxmlformats.org/officeDocument/2006/relationships/image" Target="../media/image43.png"/><Relationship Id="rId9" Type="http://schemas.openxmlformats.org/officeDocument/2006/relationships/image" Target="../media/image47.png"/><Relationship Id="rId10" Type="http://schemas.openxmlformats.org/officeDocument/2006/relationships/image" Target="../media/image49.png"/><Relationship Id="rId11" Type="http://schemas.openxmlformats.org/officeDocument/2006/relationships/image" Target="../media/image54.png"/><Relationship Id="rId12" Type="http://schemas.openxmlformats.org/officeDocument/2006/relationships/image" Target="../media/image5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34.png"/><Relationship Id="rId5" Type="http://schemas.openxmlformats.org/officeDocument/2006/relationships/image" Target="../media/image4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50.png"/><Relationship Id="rId4" Type="http://schemas.openxmlformats.org/officeDocument/2006/relationships/image" Target="../media/image52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4.png"/><Relationship Id="rId4" Type="http://schemas.openxmlformats.org/officeDocument/2006/relationships/image" Target="../media/image48.png"/><Relationship Id="rId5" Type="http://schemas.openxmlformats.org/officeDocument/2006/relationships/image" Target="../media/image51.png"/><Relationship Id="rId6" Type="http://schemas.openxmlformats.org/officeDocument/2006/relationships/image" Target="../media/image53.png"/><Relationship Id="rId7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3A8A">
                  <a:alpha val="80000"/>
                </a:srgbClr>
              </a:gs>
              <a:gs pos="50000">
                <a:srgbClr val="312E81">
                  <a:alpha val="70000"/>
                </a:srgbClr>
              </a:gs>
              <a:gs pos="100000">
                <a:srgbClr val="581C87">
                  <a:alpha val="80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34026" y="3047999"/>
            <a:ext cx="1828754" cy="1828800"/>
          </a:xfrm>
          <a:prstGeom prst="roundRect">
            <a:avLst>
              <a:gd name="adj" fmla="val 20833"/>
            </a:avLst>
          </a:prstGeom>
          <a:solidFill>
            <a:srgbClr val="F6E28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52876" y="1866899"/>
            <a:ext cx="609584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F6E283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91055" y="1629918"/>
            <a:ext cx="609584" cy="51206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629234" y="1866899"/>
            <a:ext cx="609584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F6E283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725" y="2495550"/>
            <a:ext cx="6248243" cy="8191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590"/>
              </a:lnSpc>
              <a:spcBef>
                <a:spcPts val="0"/>
              </a:spcBef>
              <a:spcAft>
                <a:spcPts val="2080"/>
              </a:spcAft>
            </a:pPr>
            <a:r>
              <a:rPr sz="4305" b="1">
                <a:solidFill>
                  <a:srgbClr val="F6E283"/>
                </a:solidFill>
              </a:rPr>
              <a:t>Word基础操作教程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10064" y="36194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38659" y="3648074"/>
            <a:ext cx="914377" cy="19050"/>
          </a:xfrm>
          <a:prstGeom prst="rect">
            <a:avLst/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05432" y="36194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725" y="4000500"/>
            <a:ext cx="624824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3120"/>
              </a:spcAft>
            </a:pPr>
            <a:r>
              <a:rPr sz="1435" b="0">
                <a:solidFill>
                  <a:srgbClr val="FFFFFF"/>
                </a:solidFill>
              </a:rPr>
              <a:t>从零开始掌握Word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90835" y="4762500"/>
            <a:ext cx="1466813" cy="514350"/>
          </a:xfrm>
          <a:prstGeom prst="roundRect">
            <a:avLst>
              <a:gd name="adj" fmla="val 29629"/>
            </a:avLst>
          </a:prstGeom>
          <a:solidFill>
            <a:srgbClr val="F6E283">
              <a:alpha val="10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828954" y="4931092"/>
            <a:ext cx="228594" cy="1771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33746" y="4886325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新手入门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62440" y="4762500"/>
            <a:ext cx="1466813" cy="514350"/>
          </a:xfrm>
          <a:prstGeom prst="roundRect">
            <a:avLst>
              <a:gd name="adj" fmla="val 29629"/>
            </a:avLst>
          </a:prstGeom>
          <a:solidFill>
            <a:srgbClr val="F6E283">
              <a:alpha val="10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00559" y="4938236"/>
            <a:ext cx="228594" cy="16287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05352" y="4886325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快速上手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4046" y="4762500"/>
            <a:ext cx="1466813" cy="514350"/>
          </a:xfrm>
          <a:prstGeom prst="roundRect">
            <a:avLst>
              <a:gd name="adj" fmla="val 29629"/>
            </a:avLst>
          </a:prstGeom>
          <a:solidFill>
            <a:srgbClr val="F6E283">
              <a:alpha val="10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372165" y="4926806"/>
            <a:ext cx="228594" cy="18573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676958" y="4886325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实用技巧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1980" y="1790700"/>
            <a:ext cx="609584" cy="38100"/>
          </a:xfrm>
          <a:prstGeom prst="rect">
            <a:avLst/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1980" y="2133599"/>
            <a:ext cx="3657508" cy="714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875"/>
              </a:lnSpc>
              <a:spcBef>
                <a:spcPts val="0"/>
              </a:spcBef>
              <a:spcAft>
                <a:spcPts val="1040"/>
              </a:spcAft>
            </a:pPr>
            <a:r>
              <a:rPr sz="3588" b="1">
                <a:solidFill>
                  <a:srgbClr val="F6E283"/>
                </a:solidFill>
              </a:rPr>
              <a:t>课程大纲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3009900"/>
            <a:ext cx="36575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7大模块 · 循序渐进 · 实用全面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1980" y="40385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0575" y="3962399"/>
            <a:ext cx="102867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从基础到进阶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980" y="445770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0575" y="4381499"/>
            <a:ext cx="102867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图文并茂讲解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980" y="487680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0575" y="4800600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快速掌握核心技能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33866" y="647699"/>
            <a:ext cx="2933626" cy="1314450"/>
          </a:xfrm>
          <a:prstGeom prst="roundRect">
            <a:avLst>
              <a:gd name="adj" fmla="val 17391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71985" y="8858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667233" y="1018760"/>
            <a:ext cx="266693" cy="1913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81570" y="942975"/>
            <a:ext cx="33336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6E283"/>
                </a:solidFill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1985" y="1457325"/>
            <a:ext cx="24573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认识Word界面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96087" y="647699"/>
            <a:ext cx="2933626" cy="1314450"/>
          </a:xfrm>
          <a:prstGeom prst="roundRect">
            <a:avLst>
              <a:gd name="adj" fmla="val 17391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34206" y="8858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829454" y="1010064"/>
            <a:ext cx="266693" cy="20872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43791" y="942975"/>
            <a:ext cx="33336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6E283"/>
                </a:solidFill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4206" y="1457325"/>
            <a:ext cx="24573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文档创建与保存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33866" y="2190749"/>
            <a:ext cx="2933626" cy="1314450"/>
          </a:xfrm>
          <a:prstGeom prst="roundRect">
            <a:avLst>
              <a:gd name="adj" fmla="val 17391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571985" y="242887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67233" y="2553114"/>
            <a:ext cx="266693" cy="20872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181570" y="2486025"/>
            <a:ext cx="33336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6E283"/>
                </a:solidFill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1985" y="3000375"/>
            <a:ext cx="24573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文本编辑基础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96087" y="2190749"/>
            <a:ext cx="2933626" cy="1314450"/>
          </a:xfrm>
          <a:prstGeom prst="roundRect">
            <a:avLst>
              <a:gd name="adj" fmla="val 17391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34206" y="242887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853266" y="2524125"/>
            <a:ext cx="219069" cy="26669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343791" y="2486025"/>
            <a:ext cx="33336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6E283"/>
                </a:solidFill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4206" y="3000375"/>
            <a:ext cx="24573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文本格式设置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33866" y="3733799"/>
            <a:ext cx="2933626" cy="1314450"/>
          </a:xfrm>
          <a:prstGeom prst="roundRect">
            <a:avLst>
              <a:gd name="adj" fmla="val 17391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571985" y="39719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67233" y="4096164"/>
            <a:ext cx="266693" cy="20872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181570" y="4029075"/>
            <a:ext cx="33336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6E283"/>
                </a:solidFill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1985" y="4543425"/>
            <a:ext cx="24573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段落格式调整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96087" y="3733799"/>
            <a:ext cx="2933626" cy="1314450"/>
          </a:xfrm>
          <a:prstGeom prst="roundRect">
            <a:avLst>
              <a:gd name="adj" fmla="val 17391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734206" y="39719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829454" y="4116456"/>
            <a:ext cx="266693" cy="16813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343791" y="4029075"/>
            <a:ext cx="33336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6E283"/>
                </a:solidFill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4206" y="4543425"/>
            <a:ext cx="24573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常用快捷键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33866" y="5276850"/>
            <a:ext cx="6095847" cy="933449"/>
          </a:xfrm>
          <a:prstGeom prst="roundRect">
            <a:avLst>
              <a:gd name="adj" fmla="val 24489"/>
            </a:avLst>
          </a:prstGeom>
          <a:solidFill>
            <a:srgbClr val="FF6B6B">
              <a:alpha val="10000"/>
            </a:srgbClr>
          </a:solidFill>
          <a:ln w="8255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571985" y="551497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667233" y="5620371"/>
            <a:ext cx="266693" cy="24640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181570" y="5524499"/>
            <a:ext cx="333366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6E283"/>
                </a:solidFill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05432" y="5638799"/>
            <a:ext cx="761980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实用技巧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71450"/>
            <a:ext cx="55243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6E283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3011" y="209550"/>
            <a:ext cx="2333566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</a:rPr>
              <a:t>认识Word界面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1980" y="1600200"/>
            <a:ext cx="4086122" cy="971550"/>
          </a:xfrm>
          <a:prstGeom prst="roundRect">
            <a:avLst>
              <a:gd name="adj" fmla="val 23529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2000" y="18097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76298" y="1975338"/>
            <a:ext cx="304792" cy="2022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47783" y="1809749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6E283"/>
                </a:solidFill>
              </a:rPr>
              <a:t>标题栏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7783" y="2152650"/>
            <a:ext cx="18287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显示当前文件名和程序名称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1980" y="2762249"/>
            <a:ext cx="4086122" cy="971550"/>
          </a:xfrm>
          <a:prstGeom prst="roundRect">
            <a:avLst>
              <a:gd name="adj" fmla="val 23529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2000" y="297180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76298" y="3121269"/>
            <a:ext cx="304792" cy="2344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47783" y="2971800"/>
            <a:ext cx="21335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6E283"/>
                </a:solidFill>
              </a:rPr>
              <a:t>功能区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7783" y="3314700"/>
            <a:ext cx="21335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包含开始、插入、布局等选项卡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1980" y="3924299"/>
            <a:ext cx="4086122" cy="971550"/>
          </a:xfrm>
          <a:prstGeom prst="roundRect">
            <a:avLst>
              <a:gd name="adj" fmla="val 23529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2000" y="41338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76298" y="4300903"/>
            <a:ext cx="304792" cy="1992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47783" y="4133849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6E283"/>
                </a:solidFill>
              </a:rPr>
              <a:t>编辑区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7783" y="4476750"/>
            <a:ext cx="18287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输入和编辑文本的主要区域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1980" y="5086350"/>
            <a:ext cx="4086122" cy="971550"/>
          </a:xfrm>
          <a:prstGeom prst="roundRect">
            <a:avLst>
              <a:gd name="adj" fmla="val 23529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2000" y="529589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76298" y="5433646"/>
            <a:ext cx="304792" cy="2579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47783" y="5295899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6E283"/>
                </a:solidFill>
              </a:rPr>
              <a:t>状态栏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7783" y="5638799"/>
            <a:ext cx="18287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显示页码、字数、视图模式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5292" y="1352549"/>
            <a:ext cx="6124421" cy="4952999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05292" y="5810249"/>
            <a:ext cx="6124421" cy="495299"/>
          </a:xfrm>
          <a:prstGeom prst="rect">
            <a:avLst/>
          </a:prstGeom>
          <a:gradFill rotWithShape="1">
            <a:gsLst>
              <a:gs pos="0">
                <a:srgbClr val="1A1A2E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57688" y="60198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48183" y="5962650"/>
            <a:ext cx="14001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</a:rPr>
              <a:t>Word界面主要组成部分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57150"/>
            <a:ext cx="55243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6E283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3011" y="95249"/>
            <a:ext cx="240023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</a:rPr>
              <a:t>文档创建与保存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1980" y="971550"/>
            <a:ext cx="6172045" cy="1600200"/>
          </a:xfrm>
          <a:prstGeom prst="roundRect">
            <a:avLst>
              <a:gd name="adj" fmla="val 14285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0099" y="1209674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33446" y="1369629"/>
            <a:ext cx="342891" cy="2896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00179" y="1209674"/>
            <a:ext cx="489572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6E283"/>
                </a:solidFill>
              </a:rPr>
              <a:t>新建文档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0179" y="172402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90675" y="1628775"/>
            <a:ext cx="18668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文件 → 新建 → 空白文档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00179" y="21145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90675" y="1971675"/>
            <a:ext cx="1066773" cy="361950"/>
          </a:xfrm>
          <a:prstGeom prst="roundRect">
            <a:avLst>
              <a:gd name="adj" fmla="val 42105"/>
            </a:avLst>
          </a:prstGeom>
          <a:solidFill>
            <a:srgbClr val="F6E283">
              <a:alpha val="15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1980" y="2800350"/>
            <a:ext cx="6172045" cy="1943100"/>
          </a:xfrm>
          <a:prstGeom prst="roundRect">
            <a:avLst>
              <a:gd name="adj" fmla="val 11764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0099" y="3038475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33446" y="3210253"/>
            <a:ext cx="342891" cy="26604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00179" y="3038475"/>
            <a:ext cx="489572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6E283"/>
                </a:solidFill>
              </a:rPr>
              <a:t>保存文档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00179" y="355282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90675" y="3457575"/>
            <a:ext cx="93342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文件 → 保存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00179" y="39433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990675" y="3800475"/>
            <a:ext cx="1066773" cy="361950"/>
          </a:xfrm>
          <a:prstGeom prst="roundRect">
            <a:avLst>
              <a:gd name="adj" fmla="val 42105"/>
            </a:avLst>
          </a:prstGeom>
          <a:solidFill>
            <a:srgbClr val="F6E283">
              <a:alpha val="15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800179" y="43338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90675" y="4238624"/>
            <a:ext cx="12001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快速访问工具栏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1980" y="4972050"/>
            <a:ext cx="6172045" cy="1504950"/>
          </a:xfrm>
          <a:prstGeom prst="roundRect">
            <a:avLst>
              <a:gd name="adj" fmla="val 15189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0099" y="5210174"/>
            <a:ext cx="609584" cy="609600"/>
          </a:xfrm>
          <a:prstGeom prst="roundRect">
            <a:avLst>
              <a:gd name="adj" fmla="val 25000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33446" y="5381953"/>
            <a:ext cx="342891" cy="26604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800179" y="5210174"/>
            <a:ext cx="489572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6E283"/>
                </a:solidFill>
              </a:rPr>
              <a:t>另存为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00179" y="572452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90675" y="5629275"/>
            <a:ext cx="11048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文件 → 另存为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00179" y="606742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90675" y="5972175"/>
            <a:ext cx="22287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选择保存位置、文件名和格式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017" y="1152524"/>
            <a:ext cx="4114697" cy="51435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017" y="5800725"/>
            <a:ext cx="4114697" cy="495299"/>
          </a:xfrm>
          <a:prstGeom prst="rect">
            <a:avLst/>
          </a:prstGeom>
          <a:gradFill rotWithShape="1">
            <a:gsLst>
              <a:gs pos="0">
                <a:srgbClr val="1A1A2E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467413" y="5960128"/>
            <a:ext cx="190495" cy="17649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772205" y="5953124"/>
            <a:ext cx="13334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</a:rPr>
              <a:t>记住快捷键，提高效率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14300"/>
            <a:ext cx="55243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6E283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3011" y="152400"/>
            <a:ext cx="2057348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</a:rPr>
              <a:t>文本编辑基础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1980" y="990599"/>
            <a:ext cx="5219569" cy="2667000"/>
          </a:xfrm>
          <a:prstGeom prst="roundRect">
            <a:avLst>
              <a:gd name="adj" fmla="val 8571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0099" y="1628775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14397" y="1801690"/>
            <a:ext cx="304792" cy="1875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85882" y="1743075"/>
            <a:ext cx="91437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6E283"/>
                </a:solidFill>
              </a:rPr>
              <a:t>输入文本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0099" y="24288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0595" y="2352675"/>
            <a:ext cx="171445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直接在文档中输入文字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0099" y="28193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0595" y="2743200"/>
            <a:ext cx="139061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使用 </a:t>
            </a:r>
            <a:r>
              <a:rPr sz="1076" b="1">
                <a:solidFill>
                  <a:srgbClr val="F6E283"/>
                </a:solidFill>
              </a:rPr>
              <a:t>Enter</a:t>
            </a:r>
            <a:r>
              <a:rPr sz="1076" b="0">
                <a:solidFill>
                  <a:srgbClr val="FFFFFF"/>
                </a:solidFill>
              </a:rPr>
              <a:t> 键换行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980" y="3886200"/>
            <a:ext cx="5219569" cy="2667000"/>
          </a:xfrm>
          <a:prstGeom prst="roundRect">
            <a:avLst>
              <a:gd name="adj" fmla="val 8571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0099" y="43243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41005" y="4438649"/>
            <a:ext cx="251574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85882" y="4438649"/>
            <a:ext cx="91437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6E283"/>
                </a:solidFill>
              </a:rPr>
              <a:t>选择文本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0099" y="51244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90595" y="5048250"/>
            <a:ext cx="171445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鼠标拖动选择任意文本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0099" y="55149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0595" y="5438774"/>
            <a:ext cx="137156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双击选择整个词语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0099" y="591502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90595" y="5838824"/>
            <a:ext cx="137156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三击选择整段文本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0144" y="990599"/>
            <a:ext cx="5219569" cy="2667000"/>
          </a:xfrm>
          <a:prstGeom prst="roundRect">
            <a:avLst>
              <a:gd name="adj" fmla="val 8571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8263" y="1628775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62560" y="1751867"/>
            <a:ext cx="304792" cy="28721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34046" y="1743075"/>
            <a:ext cx="114297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6E283"/>
                </a:solidFill>
              </a:rPr>
              <a:t>复制与粘贴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8263" y="24288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8759" y="2352675"/>
            <a:ext cx="1876378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选中文本后 </a:t>
            </a:r>
            <a:r>
              <a:rPr sz="1076" b="1">
                <a:solidFill>
                  <a:srgbClr val="F6E283"/>
                </a:solidFill>
              </a:rPr>
              <a:t>Ctrl + C</a:t>
            </a:r>
            <a:r>
              <a:rPr sz="1076" b="0">
                <a:solidFill>
                  <a:srgbClr val="FFFFFF"/>
                </a:solidFill>
              </a:rPr>
              <a:t> 复制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8263" y="281939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38759" y="2743200"/>
            <a:ext cx="1866853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在目标位置 </a:t>
            </a:r>
            <a:r>
              <a:rPr sz="1076" b="1">
                <a:solidFill>
                  <a:srgbClr val="F6E283"/>
                </a:solidFill>
              </a:rPr>
              <a:t>Ctrl + V</a:t>
            </a:r>
            <a:r>
              <a:rPr sz="1076" b="0">
                <a:solidFill>
                  <a:srgbClr val="FFFFFF"/>
                </a:solidFill>
              </a:rPr>
              <a:t> 粘贴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0144" y="3886200"/>
            <a:ext cx="5219569" cy="2667000"/>
          </a:xfrm>
          <a:prstGeom prst="roundRect">
            <a:avLst>
              <a:gd name="adj" fmla="val 8571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48263" y="4524374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62560" y="4673844"/>
            <a:ext cx="304792" cy="23446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134046" y="4638674"/>
            <a:ext cx="91437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6E283"/>
                </a:solidFill>
              </a:rPr>
              <a:t>删除文本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8263" y="53244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38759" y="5248275"/>
            <a:ext cx="1476338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选中后按 </a:t>
            </a:r>
            <a:r>
              <a:rPr sz="1076" b="1">
                <a:solidFill>
                  <a:srgbClr val="F6E283"/>
                </a:solidFill>
              </a:rPr>
              <a:t>Delete</a:t>
            </a:r>
            <a:r>
              <a:rPr sz="1076" b="0">
                <a:solidFill>
                  <a:srgbClr val="FFFFFF"/>
                </a:solidFill>
              </a:rPr>
              <a:t> 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48263" y="57150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38759" y="5638799"/>
            <a:ext cx="1819229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使用 </a:t>
            </a:r>
            <a:r>
              <a:rPr sz="1076" b="1">
                <a:solidFill>
                  <a:srgbClr val="F6E283"/>
                </a:solidFill>
              </a:rPr>
              <a:t>Backspace</a:t>
            </a:r>
            <a:r>
              <a:rPr sz="1076" b="0">
                <a:solidFill>
                  <a:srgbClr val="FFFFFF"/>
                </a:solidFill>
              </a:rPr>
              <a:t> 键删除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71450"/>
            <a:ext cx="55243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6E283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3011" y="209550"/>
            <a:ext cx="2057348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</a:rPr>
              <a:t>文本格式设置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1980" y="18097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948483"/>
            <a:ext cx="266693" cy="1797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565" y="1866899"/>
            <a:ext cx="114297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6E283"/>
                </a:solidFill>
              </a:rPr>
              <a:t>基本格式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980" y="2571750"/>
            <a:ext cx="5143371" cy="990599"/>
          </a:xfrm>
          <a:prstGeom prst="roundRect">
            <a:avLst>
              <a:gd name="adj" fmla="val 23076"/>
            </a:avLst>
          </a:prstGeom>
          <a:solidFill>
            <a:srgbClr val="F6E28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332721" y="3001009"/>
            <a:ext cx="990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90575" y="28575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1070" y="2762249"/>
            <a:ext cx="3809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字体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575" y="3105149"/>
            <a:ext cx="37337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宋体、黑体、楷体等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6678" y="2762249"/>
            <a:ext cx="22859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</a:rPr>
              <a:t>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1470" y="2762249"/>
            <a:ext cx="22859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</a:rPr>
              <a:t>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262" y="2762249"/>
            <a:ext cx="22859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0000"/>
                </a:solidFill>
              </a:rPr>
              <a:t>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1980" y="3714750"/>
            <a:ext cx="5143371" cy="990599"/>
          </a:xfrm>
          <a:prstGeom prst="roundRect">
            <a:avLst>
              <a:gd name="adj" fmla="val 23076"/>
            </a:avLst>
          </a:prstGeom>
          <a:solidFill>
            <a:srgbClr val="F6E28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32721" y="4144009"/>
            <a:ext cx="990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90575" y="40005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1070" y="3905249"/>
            <a:ext cx="3809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字号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575" y="4248150"/>
            <a:ext cx="31907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调整文字大小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3766" y="4019549"/>
            <a:ext cx="31431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4281" y="3981449"/>
            <a:ext cx="40003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6E283"/>
                </a:solidFill>
              </a:rPr>
              <a:t>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0044" y="3905249"/>
            <a:ext cx="504812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0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1980" y="4857750"/>
            <a:ext cx="5143371" cy="990599"/>
          </a:xfrm>
          <a:prstGeom prst="roundRect">
            <a:avLst>
              <a:gd name="adj" fmla="val 23076"/>
            </a:avLst>
          </a:prstGeom>
          <a:solidFill>
            <a:srgbClr val="F6E28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332721" y="5287009"/>
            <a:ext cx="9905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0575" y="51435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1070" y="5048250"/>
            <a:ext cx="3809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颜色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575" y="5391150"/>
            <a:ext cx="27050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更改文字颜色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8003" y="50482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43291" y="50482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838579" y="50482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33866" y="5048250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86342" y="13716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381590" y="1487142"/>
            <a:ext cx="266693" cy="22611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95927" y="1428750"/>
            <a:ext cx="114297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6E283"/>
                </a:solidFill>
              </a:rPr>
              <a:t>样式设置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86342" y="2133599"/>
            <a:ext cx="2495487" cy="1562100"/>
          </a:xfrm>
          <a:prstGeom prst="roundRect">
            <a:avLst>
              <a:gd name="adj" fmla="val 14634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86362" y="2373381"/>
            <a:ext cx="266693" cy="16813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867353" y="2324100"/>
            <a:ext cx="3809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6E283"/>
                </a:solidFill>
              </a:rPr>
              <a:t>加粗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86362" y="2705099"/>
            <a:ext cx="1066773" cy="400050"/>
          </a:xfrm>
          <a:prstGeom prst="roundRect">
            <a:avLst>
              <a:gd name="adj" fmla="val 38095"/>
            </a:avLst>
          </a:prstGeom>
          <a:solidFill>
            <a:srgbClr val="F6E283">
              <a:alpha val="15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86362" y="3219449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78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加粗文本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34226" y="2133599"/>
            <a:ext cx="2495487" cy="1562100"/>
          </a:xfrm>
          <a:prstGeom prst="roundRect">
            <a:avLst>
              <a:gd name="adj" fmla="val 14634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34246" y="2373381"/>
            <a:ext cx="266693" cy="16813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515237" y="2324100"/>
            <a:ext cx="3809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6E283"/>
                </a:solidFill>
              </a:rPr>
              <a:t>斜体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34246" y="2705099"/>
            <a:ext cx="1066773" cy="400050"/>
          </a:xfrm>
          <a:prstGeom prst="roundRect">
            <a:avLst>
              <a:gd name="adj" fmla="val 38095"/>
            </a:avLst>
          </a:prstGeom>
          <a:solidFill>
            <a:srgbClr val="F6E283">
              <a:alpha val="15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34246" y="3219449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斜体文本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86342" y="3848099"/>
            <a:ext cx="2495487" cy="1562100"/>
          </a:xfrm>
          <a:prstGeom prst="roundRect">
            <a:avLst>
              <a:gd name="adj" fmla="val 14634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86362" y="4067589"/>
            <a:ext cx="266693" cy="208721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867353" y="4038599"/>
            <a:ext cx="5714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6E283"/>
                </a:solidFill>
              </a:rPr>
              <a:t>下划线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86362" y="4419600"/>
            <a:ext cx="1066773" cy="400050"/>
          </a:xfrm>
          <a:prstGeom prst="roundRect">
            <a:avLst>
              <a:gd name="adj" fmla="val 38095"/>
            </a:avLst>
          </a:prstGeom>
          <a:solidFill>
            <a:srgbClr val="F6E283">
              <a:alpha val="15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86362" y="4933950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下划线文本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34226" y="3848099"/>
            <a:ext cx="2495487" cy="1562100"/>
          </a:xfrm>
          <a:prstGeom prst="roundRect">
            <a:avLst>
              <a:gd name="adj" fmla="val 14634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7036" y="4038599"/>
            <a:ext cx="201113" cy="26669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15237" y="4038599"/>
            <a:ext cx="5714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6E283"/>
                </a:solidFill>
              </a:rPr>
              <a:t>格式刷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34246" y="4419600"/>
            <a:ext cx="20954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快速复制格式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34246" y="4686300"/>
            <a:ext cx="20954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应用到其他文本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86342" y="5600700"/>
            <a:ext cx="5143371" cy="704849"/>
          </a:xfrm>
          <a:prstGeom prst="roundRect">
            <a:avLst>
              <a:gd name="adj" fmla="val 32432"/>
            </a:avLst>
          </a:prstGeom>
          <a:solidFill>
            <a:srgbClr val="FF6B6B">
              <a:alpha val="8000"/>
            </a:srgbClr>
          </a:solidFill>
          <a:ln w="8255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86362" y="5802923"/>
            <a:ext cx="304792" cy="281353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943551" y="5810249"/>
            <a:ext cx="37622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选中文字后，可在"开始"选项卡找到这些格式工具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71450"/>
            <a:ext cx="55243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6E283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3011" y="209550"/>
            <a:ext cx="2057348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</a:rPr>
              <a:t>段落格式调整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1980" y="15621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686339"/>
            <a:ext cx="266693" cy="2087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565" y="1638299"/>
            <a:ext cx="91437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6E283"/>
                </a:solidFill>
              </a:rPr>
              <a:t>对齐方式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980" y="2247899"/>
            <a:ext cx="3352716" cy="876299"/>
          </a:xfrm>
          <a:prstGeom prst="roundRect">
            <a:avLst>
              <a:gd name="adj" fmla="val 17391"/>
            </a:avLst>
          </a:prstGeom>
          <a:solidFill>
            <a:srgbClr val="F6E28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373361" y="2636518"/>
            <a:ext cx="8762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464516"/>
            <a:ext cx="171445" cy="1382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28694" y="2400300"/>
            <a:ext cx="5143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左对齐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951" y="2743200"/>
            <a:ext cx="30193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文本靠左对齐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980" y="3238500"/>
            <a:ext cx="3352716" cy="876299"/>
          </a:xfrm>
          <a:prstGeom prst="roundRect">
            <a:avLst>
              <a:gd name="adj" fmla="val 17391"/>
            </a:avLst>
          </a:prstGeom>
          <a:solidFill>
            <a:srgbClr val="F6E28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373361" y="3627119"/>
            <a:ext cx="8762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3455116"/>
            <a:ext cx="171445" cy="1382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28694" y="3390899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居中对齐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51" y="3733799"/>
            <a:ext cx="30193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文本居中对齐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1980" y="4229100"/>
            <a:ext cx="3352716" cy="876299"/>
          </a:xfrm>
          <a:prstGeom prst="roundRect">
            <a:avLst>
              <a:gd name="adj" fmla="val 17391"/>
            </a:avLst>
          </a:prstGeom>
          <a:solidFill>
            <a:srgbClr val="F6E28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373361" y="4617719"/>
            <a:ext cx="8762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42951" y="4445716"/>
            <a:ext cx="171445" cy="13826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28694" y="4381499"/>
            <a:ext cx="5143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右对齐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951" y="4724399"/>
            <a:ext cx="30193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文本靠右对齐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1980" y="5219700"/>
            <a:ext cx="3352716" cy="876299"/>
          </a:xfrm>
          <a:prstGeom prst="roundRect">
            <a:avLst>
              <a:gd name="adj" fmla="val 17391"/>
            </a:avLst>
          </a:prstGeom>
          <a:solidFill>
            <a:srgbClr val="F6E28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373361" y="5608319"/>
            <a:ext cx="8762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42951" y="5436316"/>
            <a:ext cx="171445" cy="13826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28694" y="5372100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两端对齐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951" y="5715000"/>
            <a:ext cx="30193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自动调整间距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19489" y="1676400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514737" y="1800639"/>
            <a:ext cx="266693" cy="20872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29074" y="1752599"/>
            <a:ext cx="91437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6E283"/>
                </a:solidFill>
              </a:rPr>
              <a:t>段落缩进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19489" y="2362199"/>
            <a:ext cx="3352716" cy="876299"/>
          </a:xfrm>
          <a:prstGeom prst="roundRect">
            <a:avLst>
              <a:gd name="adj" fmla="val 17391"/>
            </a:avLst>
          </a:prstGeom>
          <a:solidFill>
            <a:srgbClr val="F6E28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4030870" y="2750818"/>
            <a:ext cx="8762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600459" y="26098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90955" y="2514600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首行缩进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0459" y="2857500"/>
            <a:ext cx="30193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段落第一行缩进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19489" y="3352800"/>
            <a:ext cx="3352716" cy="876299"/>
          </a:xfrm>
          <a:prstGeom prst="roundRect">
            <a:avLst>
              <a:gd name="adj" fmla="val 17391"/>
            </a:avLst>
          </a:prstGeom>
          <a:solidFill>
            <a:srgbClr val="F6E28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4030870" y="3741419"/>
            <a:ext cx="8762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600459" y="36004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90955" y="3505199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悬挂缩进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00459" y="3848099"/>
            <a:ext cx="30193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除首行外缩进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19489" y="4343400"/>
            <a:ext cx="3352716" cy="876299"/>
          </a:xfrm>
          <a:prstGeom prst="roundRect">
            <a:avLst>
              <a:gd name="adj" fmla="val 17391"/>
            </a:avLst>
          </a:prstGeom>
          <a:solidFill>
            <a:srgbClr val="F6E283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4030870" y="4732019"/>
            <a:ext cx="8762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600459" y="45910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90955" y="4495799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左右缩进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459" y="4838699"/>
            <a:ext cx="30193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调整左右边距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19489" y="5372100"/>
            <a:ext cx="3352716" cy="628650"/>
          </a:xfrm>
          <a:prstGeom prst="roundRect">
            <a:avLst>
              <a:gd name="adj" fmla="val 36363"/>
            </a:avLst>
          </a:prstGeom>
          <a:solidFill>
            <a:srgbClr val="FF6B6B">
              <a:alpha val="8000"/>
            </a:srgbClr>
          </a:solidFill>
          <a:ln w="8255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619509" y="5571172"/>
            <a:ext cx="228594" cy="21145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962400" y="5562600"/>
            <a:ext cx="213354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在段落对话框中精确设置缩进值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76998" y="1466849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172245" y="1591089"/>
            <a:ext cx="266693" cy="20872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686582" y="1543050"/>
            <a:ext cx="91437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6E283"/>
                </a:solidFill>
              </a:rPr>
              <a:t>间距设置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76998" y="2152650"/>
            <a:ext cx="3352716" cy="1771650"/>
          </a:xfrm>
          <a:prstGeom prst="roundRect">
            <a:avLst>
              <a:gd name="adj" fmla="val 8602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277018" y="2390774"/>
            <a:ext cx="228594" cy="17145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619909" y="2343150"/>
            <a:ext cx="5714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行间距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77018" y="28575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67513" y="2762249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单倍行距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77018" y="32004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67513" y="3105149"/>
            <a:ext cx="7524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1.5倍行距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77018" y="354330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67513" y="3448049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双倍行距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76998" y="4076699"/>
            <a:ext cx="3352716" cy="1428750"/>
          </a:xfrm>
          <a:prstGeom prst="roundRect">
            <a:avLst>
              <a:gd name="adj" fmla="val 10666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277018" y="4392900"/>
            <a:ext cx="228594" cy="15299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619909" y="4267199"/>
            <a:ext cx="5714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段间距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77018" y="47815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67513" y="4686300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段前间距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77018" y="51244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67513" y="5029200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段后间距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76998" y="5657850"/>
            <a:ext cx="3352716" cy="552450"/>
          </a:xfrm>
          <a:prstGeom prst="roundRect">
            <a:avLst>
              <a:gd name="adj" fmla="val 41379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238919" y="5862917"/>
            <a:ext cx="190495" cy="123264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543711" y="5810249"/>
            <a:ext cx="121916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段落设置在段落组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71450"/>
            <a:ext cx="55243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6E283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3011" y="209550"/>
            <a:ext cx="171445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</a:rPr>
              <a:t>常用快捷键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1980" y="1114425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38179" y="1222057"/>
            <a:ext cx="228594" cy="1657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57268" y="1171575"/>
            <a:ext cx="7619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6E283"/>
                </a:solidFill>
              </a:rPr>
              <a:t>文档操作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980" y="1647825"/>
            <a:ext cx="3457488" cy="723900"/>
          </a:xfrm>
          <a:prstGeom prst="roundRect">
            <a:avLst>
              <a:gd name="adj" fmla="val 21052"/>
            </a:avLst>
          </a:prstGeom>
          <a:solidFill>
            <a:srgbClr val="F6E283">
              <a:alpha val="6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3901" y="1809749"/>
            <a:ext cx="1162020" cy="400050"/>
          </a:xfrm>
          <a:prstGeom prst="roundRect">
            <a:avLst>
              <a:gd name="adj" fmla="val 38095"/>
            </a:avLst>
          </a:prstGeom>
          <a:solidFill>
            <a:srgbClr val="F6E283">
              <a:alpha val="15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765" y="1876424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新建文档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1980" y="2486025"/>
            <a:ext cx="3457488" cy="723900"/>
          </a:xfrm>
          <a:prstGeom prst="roundRect">
            <a:avLst>
              <a:gd name="adj" fmla="val 21052"/>
            </a:avLst>
          </a:prstGeom>
          <a:solidFill>
            <a:srgbClr val="F6E283">
              <a:alpha val="6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3901" y="2647949"/>
            <a:ext cx="1162020" cy="400050"/>
          </a:xfrm>
          <a:prstGeom prst="roundRect">
            <a:avLst>
              <a:gd name="adj" fmla="val 38095"/>
            </a:avLst>
          </a:prstGeom>
          <a:solidFill>
            <a:srgbClr val="F6E283">
              <a:alpha val="15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1765" y="2714625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打开文档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980" y="3324225"/>
            <a:ext cx="3457488" cy="723900"/>
          </a:xfrm>
          <a:prstGeom prst="roundRect">
            <a:avLst>
              <a:gd name="adj" fmla="val 21052"/>
            </a:avLst>
          </a:prstGeom>
          <a:solidFill>
            <a:srgbClr val="F6E283">
              <a:alpha val="6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901" y="3486150"/>
            <a:ext cx="1162020" cy="400050"/>
          </a:xfrm>
          <a:prstGeom prst="roundRect">
            <a:avLst>
              <a:gd name="adj" fmla="val 38095"/>
            </a:avLst>
          </a:prstGeom>
          <a:solidFill>
            <a:srgbClr val="F6E283">
              <a:alpha val="15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71765" y="3552825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保存文档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1865" y="1114425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448063" y="1196339"/>
            <a:ext cx="228594" cy="21717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67153" y="1171575"/>
            <a:ext cx="7619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6E283"/>
                </a:solidFill>
              </a:rPr>
              <a:t>编辑操作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1865" y="1647825"/>
            <a:ext cx="3457488" cy="723900"/>
          </a:xfrm>
          <a:prstGeom prst="roundRect">
            <a:avLst>
              <a:gd name="adj" fmla="val 21052"/>
            </a:avLst>
          </a:prstGeom>
          <a:solidFill>
            <a:srgbClr val="F6E283">
              <a:alpha val="6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33786" y="1809749"/>
            <a:ext cx="1162020" cy="400050"/>
          </a:xfrm>
          <a:prstGeom prst="roundRect">
            <a:avLst>
              <a:gd name="adj" fmla="val 38095"/>
            </a:avLst>
          </a:prstGeom>
          <a:solidFill>
            <a:srgbClr val="F6E283">
              <a:alpha val="15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017" y="1876424"/>
            <a:ext cx="342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复制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1865" y="2486025"/>
            <a:ext cx="3457488" cy="723900"/>
          </a:xfrm>
          <a:prstGeom prst="roundRect">
            <a:avLst>
              <a:gd name="adj" fmla="val 21052"/>
            </a:avLst>
          </a:prstGeom>
          <a:solidFill>
            <a:srgbClr val="F6E283">
              <a:alpha val="6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33786" y="2647949"/>
            <a:ext cx="1162020" cy="400050"/>
          </a:xfrm>
          <a:prstGeom prst="roundRect">
            <a:avLst>
              <a:gd name="adj" fmla="val 38095"/>
            </a:avLst>
          </a:prstGeom>
          <a:solidFill>
            <a:srgbClr val="F6E283">
              <a:alpha val="15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017" y="2714625"/>
            <a:ext cx="342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粘贴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1865" y="3324225"/>
            <a:ext cx="3457488" cy="723900"/>
          </a:xfrm>
          <a:prstGeom prst="roundRect">
            <a:avLst>
              <a:gd name="adj" fmla="val 21052"/>
            </a:avLst>
          </a:prstGeom>
          <a:solidFill>
            <a:srgbClr val="F6E283">
              <a:alpha val="6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33786" y="3486150"/>
            <a:ext cx="1162020" cy="400050"/>
          </a:xfrm>
          <a:prstGeom prst="roundRect">
            <a:avLst>
              <a:gd name="adj" fmla="val 38095"/>
            </a:avLst>
          </a:prstGeom>
          <a:solidFill>
            <a:srgbClr val="F6E283">
              <a:alpha val="15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017" y="3552825"/>
            <a:ext cx="342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剪切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1865" y="4162424"/>
            <a:ext cx="3457488" cy="723900"/>
          </a:xfrm>
          <a:prstGeom prst="roundRect">
            <a:avLst>
              <a:gd name="adj" fmla="val 21052"/>
            </a:avLst>
          </a:prstGeom>
          <a:solidFill>
            <a:srgbClr val="F6E283">
              <a:alpha val="6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33786" y="4324349"/>
            <a:ext cx="1162020" cy="400050"/>
          </a:xfrm>
          <a:prstGeom prst="roundRect">
            <a:avLst>
              <a:gd name="adj" fmla="val 38095"/>
            </a:avLst>
          </a:prstGeom>
          <a:solidFill>
            <a:srgbClr val="F6E283">
              <a:alpha val="15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017" y="4391025"/>
            <a:ext cx="342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撤销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72225" y="1114425"/>
            <a:ext cx="380990" cy="380999"/>
          </a:xfrm>
          <a:prstGeom prst="roundRect">
            <a:avLst>
              <a:gd name="adj" fmla="val 40000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48423" y="1232058"/>
            <a:ext cx="228594" cy="14573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467513" y="1171575"/>
            <a:ext cx="7619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6E283"/>
                </a:solidFill>
              </a:rPr>
              <a:t>格式操作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72225" y="1647825"/>
            <a:ext cx="3457488" cy="723900"/>
          </a:xfrm>
          <a:prstGeom prst="roundRect">
            <a:avLst>
              <a:gd name="adj" fmla="val 21052"/>
            </a:avLst>
          </a:prstGeom>
          <a:solidFill>
            <a:srgbClr val="F6E283">
              <a:alpha val="6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34146" y="1809749"/>
            <a:ext cx="1162020" cy="400050"/>
          </a:xfrm>
          <a:prstGeom prst="roundRect">
            <a:avLst>
              <a:gd name="adj" fmla="val 38095"/>
            </a:avLst>
          </a:prstGeom>
          <a:solidFill>
            <a:srgbClr val="F6E283">
              <a:alpha val="15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24901" y="1876424"/>
            <a:ext cx="342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重做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72225" y="2486025"/>
            <a:ext cx="3457488" cy="723900"/>
          </a:xfrm>
          <a:prstGeom prst="roundRect">
            <a:avLst>
              <a:gd name="adj" fmla="val 21052"/>
            </a:avLst>
          </a:prstGeom>
          <a:solidFill>
            <a:srgbClr val="F6E283">
              <a:alpha val="6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34146" y="2647949"/>
            <a:ext cx="1162020" cy="400050"/>
          </a:xfrm>
          <a:prstGeom prst="roundRect">
            <a:avLst>
              <a:gd name="adj" fmla="val 38095"/>
            </a:avLst>
          </a:prstGeom>
          <a:solidFill>
            <a:srgbClr val="F6E283">
              <a:alpha val="15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24901" y="2714625"/>
            <a:ext cx="342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加粗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72225" y="3324225"/>
            <a:ext cx="3457488" cy="723900"/>
          </a:xfrm>
          <a:prstGeom prst="roundRect">
            <a:avLst>
              <a:gd name="adj" fmla="val 21052"/>
            </a:avLst>
          </a:prstGeom>
          <a:solidFill>
            <a:srgbClr val="F6E283">
              <a:alpha val="6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34146" y="3486150"/>
            <a:ext cx="1162020" cy="400050"/>
          </a:xfrm>
          <a:prstGeom prst="roundRect">
            <a:avLst>
              <a:gd name="adj" fmla="val 38095"/>
            </a:avLst>
          </a:prstGeom>
          <a:solidFill>
            <a:srgbClr val="F6E283">
              <a:alpha val="15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24901" y="3552825"/>
            <a:ext cx="342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斜体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72225" y="4162424"/>
            <a:ext cx="3457488" cy="723900"/>
          </a:xfrm>
          <a:prstGeom prst="roundRect">
            <a:avLst>
              <a:gd name="adj" fmla="val 21052"/>
            </a:avLst>
          </a:prstGeom>
          <a:solidFill>
            <a:srgbClr val="F6E283">
              <a:alpha val="6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34146" y="4324349"/>
            <a:ext cx="1162020" cy="400050"/>
          </a:xfrm>
          <a:prstGeom prst="roundRect">
            <a:avLst>
              <a:gd name="adj" fmla="val 38095"/>
            </a:avLst>
          </a:prstGeom>
          <a:solidFill>
            <a:srgbClr val="F6E283">
              <a:alpha val="15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53456" y="4391025"/>
            <a:ext cx="5143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下划线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1980" y="6705600"/>
            <a:ext cx="10667733" cy="590549"/>
          </a:xfrm>
          <a:prstGeom prst="roundRect">
            <a:avLst>
              <a:gd name="adj" fmla="val 38709"/>
            </a:avLst>
          </a:prstGeom>
          <a:solidFill>
            <a:srgbClr val="FF6B6B">
              <a:alpha val="8000"/>
            </a:srgbClr>
          </a:solidFill>
          <a:ln w="8255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23901" y="6906660"/>
            <a:ext cx="266693" cy="1884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80" y="152400"/>
            <a:ext cx="55243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6E283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3011" y="190499"/>
            <a:ext cx="1371565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</a:rPr>
              <a:t>实用技巧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1980" y="1085850"/>
            <a:ext cx="3400339" cy="4572000"/>
          </a:xfrm>
          <a:prstGeom prst="roundRect">
            <a:avLst>
              <a:gd name="adj" fmla="val 6722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0099" y="1323974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14397" y="1473444"/>
            <a:ext cx="304792" cy="2344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85882" y="1438274"/>
            <a:ext cx="59053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6E283"/>
                </a:solidFill>
              </a:rPr>
              <a:t>技巧1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099" y="2085975"/>
            <a:ext cx="29241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1">
                <a:solidFill>
                  <a:srgbClr val="FFFFFF"/>
                </a:solidFill>
              </a:rPr>
              <a:t>自动保存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0099" y="26193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90595" y="2543175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文件 → 选项 → 保存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0099" y="30384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0595" y="2962274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设置自动保存时间间隔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0099" y="3457575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0595" y="3381375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防止意外数据丢失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0099" y="4867274"/>
            <a:ext cx="2924101" cy="552450"/>
          </a:xfrm>
          <a:prstGeom prst="roundRect">
            <a:avLst>
              <a:gd name="adj" fmla="val 27586"/>
            </a:avLst>
          </a:prstGeom>
          <a:solidFill>
            <a:srgbClr val="F6E283">
              <a:alpha val="12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62020" y="5062257"/>
            <a:ext cx="190495" cy="1624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28714" y="5029200"/>
            <a:ext cx="12286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建议设置5-10分钟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90915" y="1085850"/>
            <a:ext cx="3400339" cy="4572000"/>
          </a:xfrm>
          <a:prstGeom prst="roundRect">
            <a:avLst>
              <a:gd name="adj" fmla="val 6722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29034" y="1323974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743331" y="1524732"/>
            <a:ext cx="304792" cy="1318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14817" y="1438274"/>
            <a:ext cx="59053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6E283"/>
                </a:solidFill>
              </a:rPr>
              <a:t>技巧2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29034" y="2085975"/>
            <a:ext cx="29241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1">
                <a:solidFill>
                  <a:srgbClr val="FFFFFF"/>
                </a:solidFill>
              </a:rPr>
              <a:t>撤销与重做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29034" y="26193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19529" y="2543175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0">
                <a:solidFill>
                  <a:srgbClr val="F6E283"/>
                </a:solidFill>
              </a:rPr>
              <a:t>撤销操作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9529" y="2847974"/>
            <a:ext cx="6857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Ctrl + Z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29034" y="33051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19529" y="3228975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0">
                <a:solidFill>
                  <a:srgbClr val="F6E283"/>
                </a:solidFill>
              </a:rPr>
              <a:t>重做操作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19529" y="3533774"/>
            <a:ext cx="6857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Ctrl + 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29034" y="39909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19529" y="3914775"/>
            <a:ext cx="15430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快速访问工具栏按钮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29034" y="4867274"/>
            <a:ext cx="2924101" cy="552450"/>
          </a:xfrm>
          <a:prstGeom prst="roundRect">
            <a:avLst>
              <a:gd name="adj" fmla="val 27586"/>
            </a:avLst>
          </a:prstGeom>
          <a:solidFill>
            <a:srgbClr val="F6E283">
              <a:alpha val="12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790955" y="5067860"/>
            <a:ext cx="190495" cy="15127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057648" y="5029200"/>
            <a:ext cx="10667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可撤销多次操作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29374" y="1085850"/>
            <a:ext cx="3400339" cy="4572000"/>
          </a:xfrm>
          <a:prstGeom prst="roundRect">
            <a:avLst>
              <a:gd name="adj" fmla="val 6722"/>
            </a:avLst>
          </a:prstGeom>
          <a:solidFill>
            <a:srgbClr val="F6E283">
              <a:alpha val="8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67493" y="1323974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381790" y="1476375"/>
            <a:ext cx="304792" cy="2286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953276" y="1438274"/>
            <a:ext cx="59053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6E283"/>
                </a:solidFill>
              </a:rPr>
              <a:t>技巧3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7493" y="2085975"/>
            <a:ext cx="29241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300"/>
              </a:spcAft>
            </a:pPr>
            <a:r>
              <a:rPr sz="1196" b="1">
                <a:solidFill>
                  <a:srgbClr val="FFFFFF"/>
                </a:solidFill>
              </a:rPr>
              <a:t>查找与替换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67493" y="26193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7988" y="2543175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0">
                <a:solidFill>
                  <a:srgbClr val="F6E283"/>
                </a:solidFill>
              </a:rPr>
              <a:t>打开查找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7988" y="2847974"/>
            <a:ext cx="6857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Ctrl + F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67493" y="33051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7988" y="3228975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0">
                <a:solidFill>
                  <a:srgbClr val="F6E283"/>
                </a:solidFill>
              </a:rPr>
              <a:t>打开替换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7988" y="3533774"/>
            <a:ext cx="6857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Ctrl + 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67493" y="3990974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7988" y="3914775"/>
            <a:ext cx="102867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批量修改文字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67493" y="4867274"/>
            <a:ext cx="2924101" cy="552450"/>
          </a:xfrm>
          <a:prstGeom prst="roundRect">
            <a:avLst>
              <a:gd name="adj" fmla="val 27586"/>
            </a:avLst>
          </a:prstGeom>
          <a:solidFill>
            <a:srgbClr val="F6E283">
              <a:alpha val="12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429414" y="5053852"/>
            <a:ext cx="190495" cy="17929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96107" y="5029200"/>
            <a:ext cx="9143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提高修改效率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61980" y="5886450"/>
            <a:ext cx="10667733" cy="666750"/>
          </a:xfrm>
          <a:prstGeom prst="roundRect">
            <a:avLst>
              <a:gd name="adj" fmla="val 34285"/>
            </a:avLst>
          </a:prstGeom>
          <a:solidFill>
            <a:srgbClr val="FF6B6B">
              <a:alpha val="8000"/>
            </a:srgbClr>
          </a:solidFill>
          <a:ln w="8255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028974" y="6096621"/>
            <a:ext cx="266693" cy="24640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448063" y="6086475"/>
            <a:ext cx="37241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掌握这些技巧，让你的Word操作更加高效！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38659" y="133349"/>
            <a:ext cx="914377" cy="9144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95647" y="1276350"/>
            <a:ext cx="400039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1560"/>
              </a:spcAft>
            </a:pPr>
            <a:r>
              <a:rPr sz="3588" b="1">
                <a:solidFill>
                  <a:srgbClr val="F6E283"/>
                </a:solidFill>
              </a:rPr>
              <a:t>恭喜完成学习！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6678" y="2209800"/>
            <a:ext cx="914377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F6E283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943451" y="2095499"/>
            <a:ext cx="304792" cy="26669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639" y="2209800"/>
            <a:ext cx="914377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F6E283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76598" y="2686050"/>
            <a:ext cx="402897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2080"/>
              </a:spcAft>
            </a:pPr>
            <a:r>
              <a:rPr sz="1794" b="1">
                <a:solidFill>
                  <a:srgbClr val="FFFFFF"/>
                </a:solidFill>
              </a:rPr>
              <a:t>你已经掌握了Word的基础操作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2836" y="3333749"/>
            <a:ext cx="309554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3120"/>
              </a:spcAft>
            </a:pPr>
            <a:r>
              <a:rPr sz="1435" b="0">
                <a:solidFill>
                  <a:srgbClr val="FFFFFF"/>
                </a:solidFill>
              </a:rPr>
              <a:t>继续练习，探索更多Word功能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2696" y="4095749"/>
            <a:ext cx="1809704" cy="1733550"/>
          </a:xfrm>
          <a:prstGeom prst="roundRect">
            <a:avLst>
              <a:gd name="adj" fmla="val 13186"/>
            </a:avLst>
          </a:prstGeom>
          <a:solidFill>
            <a:srgbClr val="F6E283">
              <a:alpha val="10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90855" y="4333875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905152" y="4483344"/>
            <a:ext cx="304792" cy="2344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90815" y="5019675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6E283"/>
                </a:solidFill>
              </a:rPr>
              <a:t>插入图片和表格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0815" y="5362575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丰富文档内容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0995" y="4095749"/>
            <a:ext cx="1809704" cy="1733550"/>
          </a:xfrm>
          <a:prstGeom prst="roundRect">
            <a:avLst>
              <a:gd name="adj" fmla="val 13186"/>
            </a:avLst>
          </a:prstGeom>
          <a:solidFill>
            <a:srgbClr val="F6E283">
              <a:alpha val="10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29154" y="4333875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943451" y="4483344"/>
            <a:ext cx="304792" cy="23446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29114" y="5019675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6E283"/>
                </a:solidFill>
              </a:rPr>
              <a:t>页面设置和打印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9114" y="5362575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掌握排版输出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9294" y="4095749"/>
            <a:ext cx="1809704" cy="1733550"/>
          </a:xfrm>
          <a:prstGeom prst="roundRect">
            <a:avLst>
              <a:gd name="adj" fmla="val 13186"/>
            </a:avLst>
          </a:prstGeom>
          <a:solidFill>
            <a:srgbClr val="F6E283">
              <a:alpha val="10000"/>
            </a:srgbClr>
          </a:solidFill>
          <a:ln w="8255">
            <a:solidFill>
              <a:srgbClr val="F6E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67453" y="4333875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6E2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981750" y="4471621"/>
            <a:ext cx="304792" cy="25790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67413" y="5019675"/>
            <a:ext cx="133346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6E283"/>
                </a:solidFill>
              </a:rPr>
              <a:t>样式和模板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7413" y="5362575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提高制作效率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95687" y="6134100"/>
            <a:ext cx="3209844" cy="590549"/>
          </a:xfrm>
          <a:prstGeom prst="roundRect">
            <a:avLst>
              <a:gd name="adj" fmla="val 32254838"/>
            </a:avLst>
          </a:prstGeom>
          <a:solidFill>
            <a:srgbClr val="FF6B6B">
              <a:alpha val="15000"/>
            </a:srgbClr>
          </a:solidFill>
          <a:ln w="8255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810004" y="6317766"/>
            <a:ext cx="266693" cy="22321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190995" y="6296024"/>
            <a:ext cx="22002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</a:rPr>
              <a:t>开启你的Word进阶之旅！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